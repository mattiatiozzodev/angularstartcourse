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  <p:sldMasterId id="2147483708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2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0CD998-A8D7-4C33-B6AC-74A3A1F7D26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0621D4D-3281-4985-ADEE-094B34F90D4E}">
      <dgm:prSet/>
      <dgm:spPr/>
      <dgm:t>
        <a:bodyPr/>
        <a:lstStyle/>
        <a:p>
          <a:pPr>
            <a:defRPr cap="all"/>
          </a:pPr>
          <a:r>
            <a:rPr lang="en-US" b="0" i="0"/>
            <a:t>Git è un sistema di controllo di versione distribuito.</a:t>
          </a:r>
          <a:endParaRPr lang="en-US"/>
        </a:p>
      </dgm:t>
    </dgm:pt>
    <dgm:pt modelId="{FFF9B813-289C-4AB7-B0BD-3EADB9A75143}" type="parTrans" cxnId="{6C43F4EB-792B-4D75-8C68-91558F82A74C}">
      <dgm:prSet/>
      <dgm:spPr/>
      <dgm:t>
        <a:bodyPr/>
        <a:lstStyle/>
        <a:p>
          <a:endParaRPr lang="en-US"/>
        </a:p>
      </dgm:t>
    </dgm:pt>
    <dgm:pt modelId="{62A91227-F54F-4BDF-A66E-469F721A7A80}" type="sibTrans" cxnId="{6C43F4EB-792B-4D75-8C68-91558F82A74C}">
      <dgm:prSet/>
      <dgm:spPr/>
      <dgm:t>
        <a:bodyPr/>
        <a:lstStyle/>
        <a:p>
          <a:endParaRPr lang="en-US"/>
        </a:p>
      </dgm:t>
    </dgm:pt>
    <dgm:pt modelId="{8C3260F6-61C9-40CC-8B5D-BC6C03FB62E6}">
      <dgm:prSet/>
      <dgm:spPr/>
      <dgm:t>
        <a:bodyPr/>
        <a:lstStyle/>
        <a:p>
          <a:pPr>
            <a:defRPr cap="all"/>
          </a:pPr>
          <a:r>
            <a:rPr lang="en-US" b="0" i="0"/>
            <a:t>Permette di tracciare modifiche, collaborare e gestire versioni del codice.</a:t>
          </a:r>
          <a:endParaRPr lang="en-US"/>
        </a:p>
      </dgm:t>
    </dgm:pt>
    <dgm:pt modelId="{2FC8AF9C-255F-496C-A72C-C20F4312EFE7}" type="parTrans" cxnId="{6F0A33DD-1B01-48B6-A569-F62445AC9A54}">
      <dgm:prSet/>
      <dgm:spPr/>
      <dgm:t>
        <a:bodyPr/>
        <a:lstStyle/>
        <a:p>
          <a:endParaRPr lang="en-US"/>
        </a:p>
      </dgm:t>
    </dgm:pt>
    <dgm:pt modelId="{C5311881-9C80-44E2-ADCD-90B5F3183995}" type="sibTrans" cxnId="{6F0A33DD-1B01-48B6-A569-F62445AC9A54}">
      <dgm:prSet/>
      <dgm:spPr/>
      <dgm:t>
        <a:bodyPr/>
        <a:lstStyle/>
        <a:p>
          <a:endParaRPr lang="en-US"/>
        </a:p>
      </dgm:t>
    </dgm:pt>
    <dgm:pt modelId="{85C580FF-193F-4ABE-9996-FD6F7C1B54F3}" type="pres">
      <dgm:prSet presAssocID="{0A0CD998-A8D7-4C33-B6AC-74A3A1F7D26B}" presName="root" presStyleCnt="0">
        <dgm:presLayoutVars>
          <dgm:dir/>
          <dgm:resizeHandles val="exact"/>
        </dgm:presLayoutVars>
      </dgm:prSet>
      <dgm:spPr/>
    </dgm:pt>
    <dgm:pt modelId="{C74814FD-5E1D-4C6F-8B93-1908AB266DF7}" type="pres">
      <dgm:prSet presAssocID="{50621D4D-3281-4985-ADEE-094B34F90D4E}" presName="compNode" presStyleCnt="0"/>
      <dgm:spPr/>
    </dgm:pt>
    <dgm:pt modelId="{07CBF79C-03EC-4C1A-8AD0-E46DF4716952}" type="pres">
      <dgm:prSet presAssocID="{50621D4D-3281-4985-ADEE-094B34F90D4E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49E5D997-B056-4D2B-B373-B59065B9EFA2}" type="pres">
      <dgm:prSet presAssocID="{50621D4D-3281-4985-ADEE-094B34F90D4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A5F11E5E-CD8F-462D-BBB4-4D9305C50054}" type="pres">
      <dgm:prSet presAssocID="{50621D4D-3281-4985-ADEE-094B34F90D4E}" presName="spaceRect" presStyleCnt="0"/>
      <dgm:spPr/>
    </dgm:pt>
    <dgm:pt modelId="{25E43AAE-0974-4621-903A-E9FC141E5D14}" type="pres">
      <dgm:prSet presAssocID="{50621D4D-3281-4985-ADEE-094B34F90D4E}" presName="textRect" presStyleLbl="revTx" presStyleIdx="0" presStyleCnt="2">
        <dgm:presLayoutVars>
          <dgm:chMax val="1"/>
          <dgm:chPref val="1"/>
        </dgm:presLayoutVars>
      </dgm:prSet>
      <dgm:spPr/>
    </dgm:pt>
    <dgm:pt modelId="{78B190D5-A627-419C-853D-4FF85D37402A}" type="pres">
      <dgm:prSet presAssocID="{62A91227-F54F-4BDF-A66E-469F721A7A80}" presName="sibTrans" presStyleCnt="0"/>
      <dgm:spPr/>
    </dgm:pt>
    <dgm:pt modelId="{BCC82E75-93EC-4A28-BDFE-799EF0828350}" type="pres">
      <dgm:prSet presAssocID="{8C3260F6-61C9-40CC-8B5D-BC6C03FB62E6}" presName="compNode" presStyleCnt="0"/>
      <dgm:spPr/>
    </dgm:pt>
    <dgm:pt modelId="{BCDC459B-659D-4FB3-815B-31562282D885}" type="pres">
      <dgm:prSet presAssocID="{8C3260F6-61C9-40CC-8B5D-BC6C03FB62E6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08DEE2CB-B472-4285-B5EC-A0A09CE18F9D}" type="pres">
      <dgm:prSet presAssocID="{8C3260F6-61C9-40CC-8B5D-BC6C03FB62E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3BBBBB46-58A0-4B97-834C-372BBBBD261B}" type="pres">
      <dgm:prSet presAssocID="{8C3260F6-61C9-40CC-8B5D-BC6C03FB62E6}" presName="spaceRect" presStyleCnt="0"/>
      <dgm:spPr/>
    </dgm:pt>
    <dgm:pt modelId="{074EDD33-F3C9-441A-ABD9-D13EBBFFACE3}" type="pres">
      <dgm:prSet presAssocID="{8C3260F6-61C9-40CC-8B5D-BC6C03FB62E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01D4F25-EAB0-4D6D-BFBE-7547BF64E349}" type="presOf" srcId="{8C3260F6-61C9-40CC-8B5D-BC6C03FB62E6}" destId="{074EDD33-F3C9-441A-ABD9-D13EBBFFACE3}" srcOrd="0" destOrd="0" presId="urn:microsoft.com/office/officeart/2018/5/layout/IconLeafLabelList"/>
    <dgm:cxn modelId="{3B980D48-C710-47E0-8C69-370CD2477A6D}" type="presOf" srcId="{50621D4D-3281-4985-ADEE-094B34F90D4E}" destId="{25E43AAE-0974-4621-903A-E9FC141E5D14}" srcOrd="0" destOrd="0" presId="urn:microsoft.com/office/officeart/2018/5/layout/IconLeafLabelList"/>
    <dgm:cxn modelId="{438EFA6B-B2CC-46DF-8A80-741FDD3CD32C}" type="presOf" srcId="{0A0CD998-A8D7-4C33-B6AC-74A3A1F7D26B}" destId="{85C580FF-193F-4ABE-9996-FD6F7C1B54F3}" srcOrd="0" destOrd="0" presId="urn:microsoft.com/office/officeart/2018/5/layout/IconLeafLabelList"/>
    <dgm:cxn modelId="{6F0A33DD-1B01-48B6-A569-F62445AC9A54}" srcId="{0A0CD998-A8D7-4C33-B6AC-74A3A1F7D26B}" destId="{8C3260F6-61C9-40CC-8B5D-BC6C03FB62E6}" srcOrd="1" destOrd="0" parTransId="{2FC8AF9C-255F-496C-A72C-C20F4312EFE7}" sibTransId="{C5311881-9C80-44E2-ADCD-90B5F3183995}"/>
    <dgm:cxn modelId="{6C43F4EB-792B-4D75-8C68-91558F82A74C}" srcId="{0A0CD998-A8D7-4C33-B6AC-74A3A1F7D26B}" destId="{50621D4D-3281-4985-ADEE-094B34F90D4E}" srcOrd="0" destOrd="0" parTransId="{FFF9B813-289C-4AB7-B0BD-3EADB9A75143}" sibTransId="{62A91227-F54F-4BDF-A66E-469F721A7A80}"/>
    <dgm:cxn modelId="{48A0D674-8DDB-445B-860F-17028F9FFA22}" type="presParOf" srcId="{85C580FF-193F-4ABE-9996-FD6F7C1B54F3}" destId="{C74814FD-5E1D-4C6F-8B93-1908AB266DF7}" srcOrd="0" destOrd="0" presId="urn:microsoft.com/office/officeart/2018/5/layout/IconLeafLabelList"/>
    <dgm:cxn modelId="{2A811B5B-A94E-4FAC-9C1C-F9ED5A093F49}" type="presParOf" srcId="{C74814FD-5E1D-4C6F-8B93-1908AB266DF7}" destId="{07CBF79C-03EC-4C1A-8AD0-E46DF4716952}" srcOrd="0" destOrd="0" presId="urn:microsoft.com/office/officeart/2018/5/layout/IconLeafLabelList"/>
    <dgm:cxn modelId="{A6F1266B-2AFE-4F6D-9049-68F7C26216D9}" type="presParOf" srcId="{C74814FD-5E1D-4C6F-8B93-1908AB266DF7}" destId="{49E5D997-B056-4D2B-B373-B59065B9EFA2}" srcOrd="1" destOrd="0" presId="urn:microsoft.com/office/officeart/2018/5/layout/IconLeafLabelList"/>
    <dgm:cxn modelId="{A6DF20C4-1217-4133-BB83-0A0AD725DC3D}" type="presParOf" srcId="{C74814FD-5E1D-4C6F-8B93-1908AB266DF7}" destId="{A5F11E5E-CD8F-462D-BBB4-4D9305C50054}" srcOrd="2" destOrd="0" presId="urn:microsoft.com/office/officeart/2018/5/layout/IconLeafLabelList"/>
    <dgm:cxn modelId="{70007A6B-CD2D-4C9A-B750-76A862985B1C}" type="presParOf" srcId="{C74814FD-5E1D-4C6F-8B93-1908AB266DF7}" destId="{25E43AAE-0974-4621-903A-E9FC141E5D14}" srcOrd="3" destOrd="0" presId="urn:microsoft.com/office/officeart/2018/5/layout/IconLeafLabelList"/>
    <dgm:cxn modelId="{BADF7BF2-7116-482E-8521-5C3B26DCEB50}" type="presParOf" srcId="{85C580FF-193F-4ABE-9996-FD6F7C1B54F3}" destId="{78B190D5-A627-419C-853D-4FF85D37402A}" srcOrd="1" destOrd="0" presId="urn:microsoft.com/office/officeart/2018/5/layout/IconLeafLabelList"/>
    <dgm:cxn modelId="{7891F97D-C51F-4B47-855E-8F64211A7643}" type="presParOf" srcId="{85C580FF-193F-4ABE-9996-FD6F7C1B54F3}" destId="{BCC82E75-93EC-4A28-BDFE-799EF0828350}" srcOrd="2" destOrd="0" presId="urn:microsoft.com/office/officeart/2018/5/layout/IconLeafLabelList"/>
    <dgm:cxn modelId="{A3A3C065-99EC-4FA7-B8C3-F31503A512B7}" type="presParOf" srcId="{BCC82E75-93EC-4A28-BDFE-799EF0828350}" destId="{BCDC459B-659D-4FB3-815B-31562282D885}" srcOrd="0" destOrd="0" presId="urn:microsoft.com/office/officeart/2018/5/layout/IconLeafLabelList"/>
    <dgm:cxn modelId="{C3978693-00D5-45DC-B6FD-1C0FB5079F26}" type="presParOf" srcId="{BCC82E75-93EC-4A28-BDFE-799EF0828350}" destId="{08DEE2CB-B472-4285-B5EC-A0A09CE18F9D}" srcOrd="1" destOrd="0" presId="urn:microsoft.com/office/officeart/2018/5/layout/IconLeafLabelList"/>
    <dgm:cxn modelId="{3C64F7F9-9291-481A-99B4-F6FF130DE65A}" type="presParOf" srcId="{BCC82E75-93EC-4A28-BDFE-799EF0828350}" destId="{3BBBBB46-58A0-4B97-834C-372BBBBD261B}" srcOrd="2" destOrd="0" presId="urn:microsoft.com/office/officeart/2018/5/layout/IconLeafLabelList"/>
    <dgm:cxn modelId="{0A3FD527-CBE9-4326-87FF-1FAE1C8B8BAA}" type="presParOf" srcId="{BCC82E75-93EC-4A28-BDFE-799EF0828350}" destId="{074EDD33-F3C9-441A-ABD9-D13EBBFFACE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CBF79C-03EC-4C1A-8AD0-E46DF4716952}">
      <dsp:nvSpPr>
        <dsp:cNvPr id="0" name=""/>
        <dsp:cNvSpPr/>
      </dsp:nvSpPr>
      <dsp:spPr>
        <a:xfrm>
          <a:off x="1123779" y="14638"/>
          <a:ext cx="2024437" cy="2024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E5D997-B056-4D2B-B373-B59065B9EFA2}">
      <dsp:nvSpPr>
        <dsp:cNvPr id="0" name=""/>
        <dsp:cNvSpPr/>
      </dsp:nvSpPr>
      <dsp:spPr>
        <a:xfrm>
          <a:off x="1555217" y="446075"/>
          <a:ext cx="1161562" cy="1161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E43AAE-0974-4621-903A-E9FC141E5D14}">
      <dsp:nvSpPr>
        <dsp:cNvPr id="0" name=""/>
        <dsp:cNvSpPr/>
      </dsp:nvSpPr>
      <dsp:spPr>
        <a:xfrm>
          <a:off x="476623" y="2669638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/>
            <a:t>Git è un sistema di controllo di versione distribuito.</a:t>
          </a:r>
          <a:endParaRPr lang="en-US" sz="1700" kern="1200"/>
        </a:p>
      </dsp:txBody>
      <dsp:txXfrm>
        <a:off x="476623" y="2669638"/>
        <a:ext cx="3318750" cy="720000"/>
      </dsp:txXfrm>
    </dsp:sp>
    <dsp:sp modelId="{BCDC459B-659D-4FB3-815B-31562282D885}">
      <dsp:nvSpPr>
        <dsp:cNvPr id="0" name=""/>
        <dsp:cNvSpPr/>
      </dsp:nvSpPr>
      <dsp:spPr>
        <a:xfrm>
          <a:off x="5023310" y="14638"/>
          <a:ext cx="2024437" cy="2024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DEE2CB-B472-4285-B5EC-A0A09CE18F9D}">
      <dsp:nvSpPr>
        <dsp:cNvPr id="0" name=""/>
        <dsp:cNvSpPr/>
      </dsp:nvSpPr>
      <dsp:spPr>
        <a:xfrm>
          <a:off x="5454748" y="446075"/>
          <a:ext cx="1161562" cy="1161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4EDD33-F3C9-441A-ABD9-D13EBBFFACE3}">
      <dsp:nvSpPr>
        <dsp:cNvPr id="0" name=""/>
        <dsp:cNvSpPr/>
      </dsp:nvSpPr>
      <dsp:spPr>
        <a:xfrm>
          <a:off x="4376154" y="2669638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/>
            <a:t>Permette di tracciare modifiche, collaborare e gestire versioni del codice.</a:t>
          </a:r>
          <a:endParaRPr lang="en-US" sz="1700" kern="1200"/>
        </a:p>
      </dsp:txBody>
      <dsp:txXfrm>
        <a:off x="4376154" y="2669638"/>
        <a:ext cx="33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60AB94-84F8-48C6-9F74-70EC94C99F37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674256-93B6-4E0E-8836-1BF8C1B28DC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6403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48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415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59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04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41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391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745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740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180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277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574890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8643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897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4132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99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1398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662BCC-802C-9DCB-F1BE-27953E002E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A70E51E-FA9E-8847-AA71-8FCBE0EA11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EF2FF6B-5CBF-42F7-4EC3-9A6374DBF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C9132-560A-43E9-9BB7-D14A4AA045C6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F5DCDC4-6B88-1063-CB4B-7C9E0D1CD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BE52F7E-7803-5A89-955C-3860720C9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E912-1DE3-4C51-909A-876BCF5DE34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59957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4FE497-4C2F-B0E6-F4CB-678280896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4A29462-520F-21DE-99DA-FBBF7E371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93F742-0AED-91D3-F5DA-093993CB9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C9132-560A-43E9-9BB7-D14A4AA045C6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C21A9C-9676-22EE-B9FB-3B18A58F4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0B98D37-4B52-BC30-12B4-898D069B9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E912-1DE3-4C51-909A-876BCF5DE34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01499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6A48FE-E472-79DE-7DA4-21A18E8C6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0BF8D85-445C-9D02-97ED-A5DDB17F5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5CEE977-7042-22A2-EAFE-E7F4548BD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C9132-560A-43E9-9BB7-D14A4AA045C6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1B90A23-67A7-FAE3-504A-C820E6351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D9ED6A5-4588-52A2-C96D-6CF2C7511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E912-1DE3-4C51-909A-876BCF5DE34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76145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CFB950-2FB2-D9CE-62F5-0371DA653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D89033A-2A76-FBB8-1CCD-44CE790F36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69D70DD-D128-6BF7-E7BE-CBA5F6595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CC8F2B2-A6B7-5C1B-9434-5FAFB0C70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C9132-560A-43E9-9BB7-D14A4AA045C6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8EE881E-31CC-9703-F699-60C62AB2F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CFF717B-DB00-5553-787C-C54EB2A95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E912-1DE3-4C51-909A-876BCF5DE34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35201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6263E3-40B5-06FD-25AA-B75EA89C9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D146E3E-9650-0CBE-8F59-FA7EFD63A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005C2AF-889F-C878-5A6C-AAB29A22A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C2D9799-CAA2-E0BA-056E-B3D97E1223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AEC1CEB-E41E-9E57-40F7-AAEE14A864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6BA4FCB-5A80-28F8-A672-B673AEE3F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C9132-560A-43E9-9BB7-D14A4AA045C6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7A4C50B-8B76-5D6F-B3ED-029AD5AD5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715C68C0-89F0-EFD9-5929-B80A1F274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E912-1DE3-4C51-909A-876BCF5DE34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95381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F4B0D6-9CD6-FB01-710B-B0985A4F0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A436F15-6016-A66F-F01A-E971E707D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C9132-560A-43E9-9BB7-D14A4AA045C6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E2A18B8-B90C-9D26-6A50-5A30C3605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EC2BCA4-26C0-3306-0A83-8831D716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E912-1DE3-4C51-909A-876BCF5DE34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21408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5BF12CA-47F9-4508-A433-1A5880596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C9132-560A-43E9-9BB7-D14A4AA045C6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3DB6A13-20F7-E4C0-F195-6A2D03DFA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865BCCE-E327-D4C6-4369-D3B6588BD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E912-1DE3-4C51-909A-876BCF5DE34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63135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5AE74B-66F1-6481-A680-AE6859490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16B341-5839-A889-F06C-629524B70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06B08F1-F658-4A56-8EDB-A2EB01120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0377B6B-3509-AE7F-A894-2FA5F7867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C9132-560A-43E9-9BB7-D14A4AA045C6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BDFA847-AB30-43E7-2456-413339188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5C781EE-0E84-F954-08A7-EF2D78548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E912-1DE3-4C51-909A-876BCF5DE34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54391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014828-31F1-6E19-E839-99C3A4D65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9155CD1-F84B-B096-AA60-53881006DB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4275FF8-C477-587C-7B39-16CB6793FB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BE0AAF0-63EE-6770-E4AA-676104EF8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C9132-560A-43E9-9BB7-D14A4AA045C6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F0511A4-F41D-0952-592A-980FD8AF4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DFC74B7-07B8-29E2-8BD4-502ECC506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E912-1DE3-4C51-909A-876BCF5DE34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15445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3C1319-A1DE-D765-796B-54AF54156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3A8CE2E-7E2A-0179-A701-4F10AD0F1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9D8EA1C-56B7-D84E-5062-C318599F1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C9132-560A-43E9-9BB7-D14A4AA045C6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3425765-D3B8-6DE4-98C3-253979A1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C201E71-8274-871D-6F49-E28688C04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E912-1DE3-4C51-909A-876BCF5DE34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56394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47DAF04-C21D-C914-868E-96D86986A0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6E2EAAD-571C-ECB1-01E1-98144354B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5166132-5B29-A64B-749E-02881BBAF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C9132-560A-43E9-9BB7-D14A4AA045C6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E194562-7908-77B8-9067-AF945D120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E8C7AFF-C0BC-08A5-AEA7-14969C12D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E912-1DE3-4C51-909A-876BCF5DE34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258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7B123A7-3EE9-85BF-9E36-F796DAD1FF2B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-25167" y="6369339"/>
            <a:ext cx="9143999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2881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9F6A99A-D2D3-71DD-6622-C1F1A6CAD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53A0AFE-93C4-D145-06C1-91FEDCC76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34020EC-7A9F-F2C3-96CC-FA3297B849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BC9132-560A-43E9-9BB7-D14A4AA045C6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F3E5672-934E-DEA2-556C-7DA0F9CF9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A0D2D85-295E-3CD9-A6AC-3ACAC4AC4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A1E912-1DE3-4C51-909A-876BCF5DE34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3736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1604" y="678859"/>
            <a:ext cx="6939116" cy="1016654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rgbClr val="EBEBEB"/>
                </a:solidFill>
              </a:rPr>
              <a:t>Introduzione</a:t>
            </a:r>
            <a:r>
              <a:rPr lang="en-GB" dirty="0">
                <a:solidFill>
                  <a:srgbClr val="EBEBEB"/>
                </a:solidFill>
              </a:rPr>
              <a:t> a Git</a:t>
            </a:r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Freeform: Shape 15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BBAE3A-67FC-BF80-8D16-2761B41729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9142758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Immagine 5">
            <a:extLst>
              <a:ext uri="{FF2B5EF4-FFF2-40B4-BE49-F238E27FC236}">
                <a16:creationId xmlns:a16="http://schemas.microsoft.com/office/drawing/2014/main" id="{DF69499C-1041-1A4D-9CB7-94BF9A4DC9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187" y="6302904"/>
            <a:ext cx="7667625" cy="466725"/>
          </a:xfrm>
          <a:prstGeom prst="rect">
            <a:avLst/>
          </a:prstGeom>
        </p:spPr>
      </p:pic>
      <p:pic>
        <p:nvPicPr>
          <p:cNvPr id="22" name="Immagine 21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6E74FB35-76C3-E225-EECA-37F15E1A85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-14201"/>
            <a:ext cx="1571291" cy="1602717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638" y="275562"/>
            <a:ext cx="6710641" cy="1400530"/>
          </a:xfrm>
        </p:spPr>
        <p:txBody>
          <a:bodyPr anchor="ctr">
            <a:normAutofit/>
          </a:bodyPr>
          <a:lstStyle/>
          <a:p>
            <a:r>
              <a:rPr lang="en-GB" dirty="0" err="1">
                <a:solidFill>
                  <a:srgbClr val="FFFFFF"/>
                </a:solidFill>
              </a:rPr>
              <a:t>Configurazione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 err="1">
                <a:solidFill>
                  <a:srgbClr val="FFFFFF"/>
                </a:solidFill>
              </a:rPr>
              <a:t>iniziale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84" y="2748983"/>
            <a:ext cx="6709905" cy="3484879"/>
          </a:xfrm>
        </p:spPr>
        <p:txBody>
          <a:bodyPr>
            <a:normAutofit/>
          </a:bodyPr>
          <a:lstStyle/>
          <a:p>
            <a:r>
              <a:t>git config --global user.name "Tuo Nome"</a:t>
            </a:r>
          </a:p>
          <a:p>
            <a:r>
              <a:t>git config --global user.email "tuo@email.com"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41FD1B20-4B29-587F-28BC-B4D09205E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84" y="6319837"/>
            <a:ext cx="7667625" cy="466725"/>
          </a:xfrm>
          <a:prstGeom prst="rect">
            <a:avLst/>
          </a:prstGeom>
        </p:spPr>
      </p:pic>
      <p:pic>
        <p:nvPicPr>
          <p:cNvPr id="16" name="Immagine 15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F0A2FBD3-D7A1-B493-C527-2D65F41B3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6605" y="-35637"/>
            <a:ext cx="1797394" cy="183334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484" y="452718"/>
            <a:ext cx="6710641" cy="1400530"/>
          </a:xfrm>
        </p:spPr>
        <p:txBody>
          <a:bodyPr anchor="ctr">
            <a:normAutofit/>
          </a:bodyPr>
          <a:lstStyle/>
          <a:p>
            <a:r>
              <a:rPr lang="en-GB" dirty="0" err="1">
                <a:solidFill>
                  <a:srgbClr val="FFFFFF"/>
                </a:solidFill>
              </a:rPr>
              <a:t>Creare</a:t>
            </a:r>
            <a:r>
              <a:rPr lang="en-GB" dirty="0">
                <a:solidFill>
                  <a:srgbClr val="FFFFFF"/>
                </a:solidFill>
              </a:rPr>
              <a:t> un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84" y="2763520"/>
            <a:ext cx="6709905" cy="3484879"/>
          </a:xfrm>
        </p:spPr>
        <p:txBody>
          <a:bodyPr>
            <a:normAutofit/>
          </a:bodyPr>
          <a:lstStyle/>
          <a:p>
            <a:r>
              <a:rPr dirty="0"/>
              <a:t>git </a:t>
            </a:r>
            <a:r>
              <a:rPr dirty="0" err="1"/>
              <a:t>init</a:t>
            </a:r>
            <a:r>
              <a:rPr dirty="0"/>
              <a:t>         → </a:t>
            </a:r>
            <a:r>
              <a:rPr dirty="0" err="1"/>
              <a:t>Inizializza</a:t>
            </a:r>
            <a:r>
              <a:rPr dirty="0"/>
              <a:t> un nuovo repository</a:t>
            </a:r>
          </a:p>
          <a:p>
            <a:r>
              <a:rPr dirty="0"/>
              <a:t>git clone URL    → </a:t>
            </a:r>
            <a:r>
              <a:rPr dirty="0" err="1"/>
              <a:t>Clona</a:t>
            </a:r>
            <a:r>
              <a:rPr dirty="0"/>
              <a:t> un repository </a:t>
            </a:r>
            <a:r>
              <a:rPr dirty="0" err="1"/>
              <a:t>esistente</a:t>
            </a:r>
            <a:endParaRPr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62EE21B-0A0A-9ED4-4BD9-57A08841C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87" y="6362080"/>
            <a:ext cx="7667625" cy="466725"/>
          </a:xfrm>
          <a:prstGeom prst="rect">
            <a:avLst/>
          </a:prstGeom>
        </p:spPr>
      </p:pic>
      <p:pic>
        <p:nvPicPr>
          <p:cNvPr id="18" name="Immagine 17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4C0D318E-8E79-D047-B4CB-3A5EF377C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063" y="-107045"/>
            <a:ext cx="2381250" cy="242887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9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484" y="452718"/>
            <a:ext cx="6710641" cy="1400530"/>
          </a:xfrm>
        </p:spPr>
        <p:txBody>
          <a:bodyPr anchor="ctr">
            <a:normAutofit/>
          </a:bodyPr>
          <a:lstStyle/>
          <a:p>
            <a:r>
              <a:rPr lang="it-IT" dirty="0">
                <a:solidFill>
                  <a:srgbClr val="FFFFFF"/>
                </a:solidFill>
              </a:rPr>
              <a:t>Stato e aggiunta dei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84" y="2763520"/>
            <a:ext cx="6709905" cy="3484879"/>
          </a:xfrm>
        </p:spPr>
        <p:txBody>
          <a:bodyPr>
            <a:normAutofit/>
          </a:bodyPr>
          <a:lstStyle/>
          <a:p>
            <a:r>
              <a:t>git status       → Mostra lo stato dei file</a:t>
            </a:r>
          </a:p>
          <a:p>
            <a:r>
              <a:t>git add FILE     → Aggiunge un file all'area di staging</a:t>
            </a:r>
          </a:p>
          <a:p>
            <a:r>
              <a:t>git add .        → Aggiunge tutti i file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88F09B68-CF4F-6970-682E-BADD460A1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87" y="6248399"/>
            <a:ext cx="7667625" cy="466725"/>
          </a:xfrm>
          <a:prstGeom prst="rect">
            <a:avLst/>
          </a:prstGeom>
        </p:spPr>
      </p:pic>
      <p:pic>
        <p:nvPicPr>
          <p:cNvPr id="17" name="Immagine 16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59632AE5-D0DF-E6FB-537B-61A6BC1EC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909" y="-142713"/>
            <a:ext cx="2381250" cy="242887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9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484" y="452718"/>
            <a:ext cx="6710641" cy="1400530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Commit e </a:t>
            </a:r>
            <a:r>
              <a:rPr lang="en-GB" dirty="0" err="1">
                <a:solidFill>
                  <a:srgbClr val="FFFFFF"/>
                </a:solidFill>
              </a:rPr>
              <a:t>cronologia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84" y="2763520"/>
            <a:ext cx="6709905" cy="3484879"/>
          </a:xfrm>
        </p:spPr>
        <p:txBody>
          <a:bodyPr>
            <a:normAutofit/>
          </a:bodyPr>
          <a:lstStyle/>
          <a:p>
            <a:r>
              <a:t>git commit -m "Messaggio"   → Crea un commit</a:t>
            </a:r>
          </a:p>
          <a:p>
            <a:r>
              <a:t>git log                      → Mostra la cronologia dei commit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89E00678-BD67-8389-C43F-EF93E7792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87" y="6316528"/>
            <a:ext cx="7667625" cy="466725"/>
          </a:xfrm>
          <a:prstGeom prst="rect">
            <a:avLst/>
          </a:prstGeom>
        </p:spPr>
      </p:pic>
      <p:pic>
        <p:nvPicPr>
          <p:cNvPr id="17" name="Immagine 16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95C71513-C5FC-F023-A490-C985F3507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063" y="-107045"/>
            <a:ext cx="2381250" cy="242887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9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484" y="452718"/>
            <a:ext cx="6710641" cy="1400530"/>
          </a:xfrm>
        </p:spPr>
        <p:txBody>
          <a:bodyPr anchor="ctr">
            <a:normAutofit/>
          </a:bodyPr>
          <a:lstStyle/>
          <a:p>
            <a:r>
              <a:rPr lang="en-GB" dirty="0" err="1">
                <a:solidFill>
                  <a:srgbClr val="FFFFFF"/>
                </a:solidFill>
              </a:rPr>
              <a:t>Lavorare</a:t>
            </a:r>
            <a:r>
              <a:rPr lang="en-GB" dirty="0">
                <a:solidFill>
                  <a:srgbClr val="FFFFFF"/>
                </a:solidFill>
              </a:rPr>
              <a:t> con </a:t>
            </a:r>
            <a:r>
              <a:rPr lang="en-GB" dirty="0" err="1">
                <a:solidFill>
                  <a:srgbClr val="FFFFFF"/>
                </a:solidFill>
              </a:rPr>
              <a:t>i</a:t>
            </a:r>
            <a:r>
              <a:rPr lang="en-GB" dirty="0">
                <a:solidFill>
                  <a:srgbClr val="FFFFFF"/>
                </a:solidFill>
              </a:rPr>
              <a:t> branch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84" y="2763520"/>
            <a:ext cx="6709905" cy="3484879"/>
          </a:xfrm>
        </p:spPr>
        <p:txBody>
          <a:bodyPr>
            <a:normAutofit/>
          </a:bodyPr>
          <a:lstStyle/>
          <a:p>
            <a:r>
              <a:rPr dirty="0"/>
              <a:t>git branch                  → </a:t>
            </a:r>
            <a:r>
              <a:rPr dirty="0" err="1"/>
              <a:t>Elenca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branch</a:t>
            </a:r>
          </a:p>
          <a:p>
            <a:r>
              <a:rPr dirty="0"/>
              <a:t>git checkout -b </a:t>
            </a:r>
            <a:r>
              <a:rPr dirty="0" err="1"/>
              <a:t>nuovoBranch</a:t>
            </a:r>
            <a:r>
              <a:rPr dirty="0"/>
              <a:t> → Crea e </a:t>
            </a:r>
            <a:r>
              <a:rPr dirty="0" err="1"/>
              <a:t>passa</a:t>
            </a:r>
            <a:r>
              <a:rPr dirty="0"/>
              <a:t> a un nuovo branch</a:t>
            </a:r>
            <a:endParaRPr lang="en-GB" dirty="0"/>
          </a:p>
          <a:p>
            <a:r>
              <a:rPr lang="it-IT" dirty="0" err="1"/>
              <a:t>git</a:t>
            </a:r>
            <a:r>
              <a:rPr lang="it-IT" dirty="0"/>
              <a:t> checkout </a:t>
            </a:r>
            <a:r>
              <a:rPr lang="it-IT" dirty="0" err="1"/>
              <a:t>nomeBranch</a:t>
            </a:r>
            <a:r>
              <a:rPr lang="it-IT" dirty="0"/>
              <a:t> →  passa a un </a:t>
            </a:r>
            <a:r>
              <a:rPr lang="it-IT" dirty="0" err="1"/>
              <a:t>branch</a:t>
            </a:r>
            <a:r>
              <a:rPr lang="it-IT" dirty="0"/>
              <a:t> esistente</a:t>
            </a:r>
          </a:p>
          <a:p>
            <a:r>
              <a:rPr lang="it-IT" dirty="0" err="1"/>
              <a:t>git</a:t>
            </a:r>
            <a:r>
              <a:rPr lang="it-IT" dirty="0"/>
              <a:t> merge </a:t>
            </a:r>
            <a:r>
              <a:rPr lang="it-IT" dirty="0" err="1"/>
              <a:t>branchName</a:t>
            </a:r>
            <a:r>
              <a:rPr lang="it-IT" dirty="0"/>
              <a:t>        → Unisce un </a:t>
            </a:r>
            <a:r>
              <a:rPr lang="it-IT" dirty="0" err="1"/>
              <a:t>branch</a:t>
            </a:r>
            <a:r>
              <a:rPr lang="it-IT" dirty="0"/>
              <a:t> nel corrente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5C1CA3E2-BB46-014C-BB73-8C5B8C216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87" y="6316528"/>
            <a:ext cx="7667625" cy="466725"/>
          </a:xfrm>
          <a:prstGeom prst="rect">
            <a:avLst/>
          </a:prstGeom>
        </p:spPr>
      </p:pic>
      <p:pic>
        <p:nvPicPr>
          <p:cNvPr id="17" name="Immagine 16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8391F2BC-79D3-5B51-C012-B484D9541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063" y="-142713"/>
            <a:ext cx="2381250" cy="242887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484" y="452718"/>
            <a:ext cx="6710641" cy="1400530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Aggiornare e </a:t>
            </a:r>
            <a:r>
              <a:rPr lang="en-GB" dirty="0" err="1">
                <a:solidFill>
                  <a:srgbClr val="FFFFFF"/>
                </a:solidFill>
              </a:rPr>
              <a:t>inviare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 err="1">
                <a:solidFill>
                  <a:srgbClr val="FFFFFF"/>
                </a:solidFill>
              </a:rPr>
              <a:t>modifiche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84" y="2763520"/>
            <a:ext cx="6709905" cy="3484879"/>
          </a:xfrm>
        </p:spPr>
        <p:txBody>
          <a:bodyPr>
            <a:normAutofit/>
          </a:bodyPr>
          <a:lstStyle/>
          <a:p>
            <a:r>
              <a:t>git pull        → Scarica e integra le modifiche dal remoto</a:t>
            </a:r>
          </a:p>
          <a:p>
            <a:r>
              <a:t>git push        → Invia le modifiche al repository remoto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77E7754-1173-39F5-97B3-EFE1D556F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04" y="6171919"/>
            <a:ext cx="7667625" cy="466725"/>
          </a:xfrm>
          <a:prstGeom prst="rect">
            <a:avLst/>
          </a:prstGeom>
        </p:spPr>
      </p:pic>
      <p:pic>
        <p:nvPicPr>
          <p:cNvPr id="7" name="Immagine 6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3FF7F95B-33A1-C5F8-11C3-B2F695B42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063" y="0"/>
            <a:ext cx="2381250" cy="242887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è uno strumento potente per lo sviluppo collaborativo.</a:t>
            </a:r>
          </a:p>
          <a:p>
            <a:r>
              <a:t>Usare spesso commit e push aiuta a non perdere il lavoro.</a:t>
            </a:r>
          </a:p>
        </p:txBody>
      </p:sp>
      <p:pic>
        <p:nvPicPr>
          <p:cNvPr id="7" name="Immagine 6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DCFAE2EC-2490-1406-C0EA-9CA0FB9DD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88" y="-61455"/>
            <a:ext cx="2381250" cy="2428875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e">
  <a:themeElements>
    <a:clrScheme name="Ione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e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e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2378f6b-f1b0-4815-a8da-8a787c8cf5d3}" enabled="1" method="Privileged" siteId="{028226e0-99ea-4fab-9d1b-daa440c9e28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44</TotalTime>
  <Words>210</Words>
  <Application>Microsoft Office PowerPoint</Application>
  <PresentationFormat>Presentazione su schermo (4:3)</PresentationFormat>
  <Paragraphs>27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Century Gothic</vt:lpstr>
      <vt:lpstr>Wingdings 3</vt:lpstr>
      <vt:lpstr>Ione</vt:lpstr>
      <vt:lpstr>Personalizza struttura</vt:lpstr>
      <vt:lpstr>Introduzione a Git</vt:lpstr>
      <vt:lpstr>Configurazione iniziale</vt:lpstr>
      <vt:lpstr>Creare un repository</vt:lpstr>
      <vt:lpstr>Stato e aggiunta dei file</vt:lpstr>
      <vt:lpstr>Commit e cronologia</vt:lpstr>
      <vt:lpstr>Lavorare con i branch</vt:lpstr>
      <vt:lpstr>Aggiornare e inviare modifiche</vt:lpstr>
      <vt:lpstr>Conclusione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Tiozzo Mattia</cp:lastModifiedBy>
  <cp:revision>3</cp:revision>
  <dcterms:created xsi:type="dcterms:W3CDTF">2013-01-27T09:14:16Z</dcterms:created>
  <dcterms:modified xsi:type="dcterms:W3CDTF">2025-06-27T15:58:31Z</dcterms:modified>
  <cp:category/>
</cp:coreProperties>
</file>